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24384000" cy="13716000"/>
  <p:notesSz cx="13716000" cy="24384000"/>
  <p:embeddedFontLst>
    <p:embeddedFont>
      <p:font typeface="Liter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5066931-4365d14bab8c?w=1920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1543431"/>
            <a:ext cx="16510000" cy="537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 OROMO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(AOBL)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7366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Beginner-First Programming Language with Local-Language Keywords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863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English Syntax Barriers for New Programmers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49680" y="12065000"/>
            <a:ext cx="508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12319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 Oromo Beginner Language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016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49680" y="3302000"/>
            <a:ext cx="381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49680" y="457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4318000"/>
            <a:ext cx="1016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1000" y="4318000"/>
            <a:ext cx="762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1000" y="508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Vision, architecture, and design philosophy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9680" y="6477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6223000"/>
            <a:ext cx="1016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1000" y="6223000"/>
            <a:ext cx="762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Reference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1000" y="698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Keywords, types, and natural syntax forms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9680" y="838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8128000"/>
            <a:ext cx="1016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1000" y="8128000"/>
            <a:ext cx="762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AOBL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1000" y="889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code examples and patterns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9680" y="10287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714500" y="10033000"/>
            <a:ext cx="1016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1000" y="10033000"/>
            <a:ext cx="762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Deep Dive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1000" y="1079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Architecture, decisions, and future roadmap</a:t>
            </a:r>
            <a:endParaRPr lang="en-US" sz="1600" dirty="0"/>
          </a:p>
        </p:txBody>
      </p:sp>
      <p:pic>
        <p:nvPicPr>
          <p:cNvPr id="20" name="Image 0" descr="https://images.unsplash.com/photo-1516321318423-f06f85e504b3?w=1200">    </p:cNvPr>
          <p:cNvPicPr>
            <a:picLocks noChangeAspect="1"/>
          </p:cNvPicPr>
          <p:nvPr/>
        </p:nvPicPr>
        <p:blipFill>
          <a:blip r:embed="rId1"/>
          <a:srcRect l="15714" r="15714" t="0" b="0"/>
          <a:stretch/>
        </p:blipFill>
        <p:spPr>
          <a:xfrm>
            <a:off x="13970000" y="2540000"/>
            <a:ext cx="9144000" cy="889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04639725590-34d0984388bd?w=1200">    </p:cNvPr>
          <p:cNvPicPr>
            <a:picLocks noChangeAspect="1"/>
          </p:cNvPicPr>
          <p:nvPr/>
        </p:nvPicPr>
        <p:blipFill>
          <a:blip r:embed="rId1"/>
          <a:srcRect l="19792" r="19792" t="0" b="0"/>
          <a:stretch/>
        </p:blipFill>
        <p:spPr>
          <a:xfrm>
            <a:off x="13335000" y="0"/>
            <a:ext cx="11049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4445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49680" y="5588000"/>
            <a:ext cx="254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249680" y="5969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9680" y="8001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vision, architecture, and design philosophy behind AOBL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524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AOBL?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49680" y="406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3810000"/>
            <a:ext cx="889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small, beginner-first programming language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9680" y="5207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4953000"/>
            <a:ext cx="889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</a:t>
            </a:r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 Oromo keywords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accessibility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6350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6096000"/>
            <a:ext cx="889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Translates to </a:t>
            </a:r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(.py) through compilation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7493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7239000"/>
            <a:ext cx="889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Learners reason in their </a:t>
            </a:r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familiar language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863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8382000"/>
            <a:ext cx="889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Indentation-based syntax like Python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9680" y="9779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9525000"/>
            <a:ext cx="8890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Localized </a:t>
            </a:r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messages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Afan Oromo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84000" y="3810000"/>
            <a:ext cx="11430000" cy="635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0" y="4191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AOBL at a Glance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0" y="5080000"/>
            <a:ext cx="1041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.or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files with Afan Oromo keywords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.py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 Python 3 code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Approach: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Structured AST-based compilation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Audience: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First-time programmers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Mission: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Programming in your native language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778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304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compiler architecture from source to Python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4826000"/>
            <a:ext cx="3556000" cy="127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9680" y="4826000"/>
            <a:ext cx="35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.or source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5680" y="5461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821680" y="4826000"/>
            <a:ext cx="3556000" cy="127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21680" y="4826000"/>
            <a:ext cx="35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77680" y="5461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0393680" y="4826000"/>
            <a:ext cx="3556000" cy="127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93680" y="4826000"/>
            <a:ext cx="35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949680" y="5461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4965680" y="4826000"/>
            <a:ext cx="3556000" cy="127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65680" y="4826000"/>
            <a:ext cx="35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Checker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521680" y="5461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9537680" y="4826000"/>
            <a:ext cx="3556000" cy="127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37680" y="4826000"/>
            <a:ext cx="35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Gen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49680" y="635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21680" y="635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 Construction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93680" y="635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65680" y="635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537680" y="635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.py Output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49680" y="7366000"/>
            <a:ext cx="21844000" cy="0"/>
          </a:xfrm>
          <a:prstGeom prst="straightConnector1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249680" y="7874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49680" y="914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6" name="Text 24"/>
          <p:cNvSpPr/>
          <p:nvPr/>
        </p:nvSpPr>
        <p:spPr>
          <a:xfrm>
            <a:off x="1714500" y="8890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parsing — not simple text replacement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49680" y="10033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8" name="Text 26"/>
          <p:cNvSpPr/>
          <p:nvPr/>
        </p:nvSpPr>
        <p:spPr>
          <a:xfrm>
            <a:off x="1714500" y="9779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Abstract Syntax Tree (AST) for correctness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49680" y="1092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30" name="Text 28"/>
          <p:cNvSpPr/>
          <p:nvPr/>
        </p:nvSpPr>
        <p:spPr>
          <a:xfrm>
            <a:off x="1714500" y="10668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Includes type checking for safety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49680" y="1181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32" name="Text 30"/>
          <p:cNvSpPr/>
          <p:nvPr/>
        </p:nvSpPr>
        <p:spPr>
          <a:xfrm>
            <a:off x="1714500" y="11557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 valid Python 3 syntax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5066931-4365d14bab8c?w=1200">    </p:cNvPr>
          <p:cNvPicPr>
            <a:picLocks noChangeAspect="1"/>
          </p:cNvPicPr>
          <p:nvPr/>
        </p:nvPicPr>
        <p:blipFill>
          <a:blip r:embed="rId1"/>
          <a:srcRect l="22840" r="22840" t="0" b="0"/>
          <a:stretch/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0000" y="4445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700000" y="5588000"/>
            <a:ext cx="254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2700000" y="5969000"/>
            <a:ext cx="1143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Reference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0" y="9398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Keywords, types, and natural syntax forms that make AOBL unique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Programming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Afan Oromo keywords and their meanings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3302000"/>
          <a:ext cx="21844000" cy="9398000"/>
        </p:xfrm>
        <a:graphic>
          <a:graphicData uri="http://schemas.openxmlformats.org/drawingml/2006/table">
            <a:tbl>
              <a:tblPr/>
              <a:tblGrid>
                <a:gridCol w="3931920"/>
                <a:gridCol w="6990080"/>
                <a:gridCol w="5461000"/>
                <a:gridCol w="5461000"/>
              </a:tblGrid>
              <a:tr h="934747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 Keyword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Afan Oromo 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 Equivalent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"let" / "declare"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 declaration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"if"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if statement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 Flow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yookaan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"otherwise" / "else"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else clause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 Flow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yoo_tahe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"else if"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elif clause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 Flow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hanga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"until" / "while"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while loop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Loops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irra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"from"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 loop start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Loops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keessa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"inside" / "in"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 ... 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Loops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hojii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"work" / "function"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 function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deebi'i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"return" / "give back"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 statement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46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maxxansi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"display" / "show"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print function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I/O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905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Logic, Control &amp;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79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Operators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3810000"/>
          <a:ext cx="6858000" cy="33020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yookiin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miti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890000" y="279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Flow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90000" y="3810000"/>
          <a:ext cx="6858000" cy="3302000"/>
        </p:xfrm>
        <a:graphic>
          <a:graphicData uri="http://schemas.openxmlformats.org/drawingml/2006/table">
            <a:tbl>
              <a:tblPr/>
              <a:tblGrid>
                <a:gridCol w="2400300"/>
                <a:gridCol w="2400300"/>
                <a:gridCol w="2057400"/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darbi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kuti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cut / break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break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itti_fufi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continue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continue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6510000" y="279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</a:t>
            </a:r>
            <a:endParaRPr lang="en-US" sz="16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510000" y="3810000"/>
          <a:ext cx="6604000" cy="3302000"/>
        </p:xfrm>
        <a:graphic>
          <a:graphicData uri="http://schemas.openxmlformats.org/drawingml/2006/table">
            <a:tbl>
              <a:tblPr/>
              <a:tblGrid>
                <a:gridCol w="2311400"/>
                <a:gridCol w="2311400"/>
                <a:gridCol w="1981200"/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yaali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qabsiisi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catch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except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dhuma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finally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1249680" y="787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Literals</a:t>
            </a:r>
            <a:endParaRPr lang="en-US" sz="16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8890000"/>
          <a:ext cx="68580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753486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753486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dhugaa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true / truth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77902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soba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false / lie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False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8890000" y="7874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Forms</a:t>
            </a:r>
            <a:endParaRPr lang="en-US" sz="1600" dirty="0"/>
          </a:p>
        </p:txBody>
      </p:sp>
      <p:graphicFrame>
        <p:nvGraphicFramePr>
          <p:cNvPr id="4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90000" y="8890000"/>
          <a:ext cx="6858000" cy="33020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Usage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ta'e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 is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 (cond) ta'e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 hin ta'in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ta'in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 is not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 hin ta'in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Annotations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type annotations with Afan Oromo type names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3429000"/>
          <a:ext cx="11430000" cy="4064000"/>
        </p:xfrm>
        <a:graphic>
          <a:graphicData uri="http://schemas.openxmlformats.org/drawingml/2006/table">
            <a:tbl>
              <a:tblPr/>
              <a:tblGrid>
                <a:gridCol w="2857500"/>
                <a:gridCol w="4000500"/>
                <a:gridCol w="2286000"/>
                <a:gridCol w="2286000"/>
              </a:tblGrid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 Type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lakkoofsa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number / count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lakkf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 / decimal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Decimal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barruu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text / letter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dhugaa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truth / reality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Boolean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49680" y="8128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Usage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49680" y="9144000"/>
            <a:ext cx="11430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1651000" y="9398000"/>
            <a:ext cx="1066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age: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lakkoofsa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name: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barruu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"Afan"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price: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lakkf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19.99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is_valid: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dhugaa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dhugaa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970000" y="3429000"/>
            <a:ext cx="9144000" cy="927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0" y="3937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 Benefits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478000" y="5080000"/>
            <a:ext cx="8128000" cy="698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Catch type errors at compile time, not runtime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Improves code documentation and readability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Helps learners understand data types conceptually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Optional annotations — use when ready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00000"/>
              </a:lnSpc>
              <a:spcBef>
                <a:spcPts val="20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Translates directly to Python type hints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508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Keyword </a:t>
            </a:r>
            <a:pPr>
              <a:lnSpc>
                <a:spcPct val="100000"/>
              </a:lnSpc>
            </a:pPr>
            <a:r>
              <a:rPr lang="en-US" sz="72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2032000"/>
          <a:ext cx="21844000" cy="10922000"/>
        </p:xfrm>
        <a:graphic>
          <a:graphicData uri="http://schemas.openxmlformats.org/drawingml/2006/table">
            <a:tbl>
              <a:tblPr/>
              <a:tblGrid>
                <a:gridCol w="4368800"/>
                <a:gridCol w="6553200"/>
                <a:gridCol w="4368800"/>
                <a:gridCol w="6553200"/>
              </a:tblGrid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AOBL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 declaration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maxxansi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if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yookaan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else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yookiin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yoo_tahe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elif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miti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hanga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while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darbi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irra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 (start)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kuti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break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keessa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itti_fufi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continue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hojii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yaali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deebi'i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qabsiisi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except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lakkoofsa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dhuma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finally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lakkf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dhugaa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barruu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soba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False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ta'e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natural form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natural form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ta'in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natural form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Beginner-Friendly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Syntax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AOBL supports natural language forms for conditionals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355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9680" y="4572000"/>
            <a:ext cx="10160000" cy="279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4826000"/>
            <a:ext cx="939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&gt; 5: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("x is greater than 5")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yookaan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("x is not greater than 5")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9680" y="8001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9680" y="9017000"/>
            <a:ext cx="10160000" cy="279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9271000"/>
            <a:ext cx="939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(x &gt; 5)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ta'e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("x is greater than 5")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hin ta'in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("x is not greater than 5")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46000" y="3556000"/>
            <a:ext cx="10668000" cy="8255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3937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54000" y="4826000"/>
            <a:ext cx="2540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954000" y="546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3398500" y="53340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intimidation for first-time learners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954000" y="685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6" name="Text 14"/>
          <p:cNvSpPr/>
          <p:nvPr/>
        </p:nvSpPr>
        <p:spPr>
          <a:xfrm>
            <a:off x="13398500" y="67310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familiar Afan Oromo phrases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954000" y="8255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3398500" y="81280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ta'e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"if it is" — natural conditional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954000" y="965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3398500" y="95250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hin ta'in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"if it is not" — negation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6116216624-53e697fedbea?w=1200">    </p:cNvPr>
          <p:cNvPicPr>
            <a:picLocks noChangeAspect="1"/>
          </p:cNvPicPr>
          <p:nvPr/>
        </p:nvPicPr>
        <p:blipFill>
          <a:blip r:embed="rId1"/>
          <a:srcRect l="24826" r="24826" t="0" b="0"/>
          <a:stretch/>
        </p:blipFill>
        <p:spPr>
          <a:xfrm>
            <a:off x="13335000" y="0"/>
            <a:ext cx="11049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4445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49680" y="5588000"/>
            <a:ext cx="254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249680" y="5969000"/>
            <a:ext cx="1143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AOBL Code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9680" y="8001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code examples from variables to exception handling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&amp;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Declaration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556000"/>
            <a:ext cx="10414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810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 =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9680" y="6096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7112000"/>
            <a:ext cx="10414000" cy="152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7366000"/>
            <a:ext cx="965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 + b * 2)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9680" y="914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9680" y="10160000"/>
            <a:ext cx="10414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10414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&gt; 5: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("Greater")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0" y="254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Logic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0" y="3556000"/>
            <a:ext cx="10414000" cy="254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13081000" y="3810000"/>
            <a:ext cx="965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&gt; 5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&lt; 10: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("In range")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0" y="6858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Notes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0" y="7874000"/>
            <a:ext cx="10414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declares variables — no type required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outputs to console (like print)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starts conditional blocks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and, 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yookiin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or, 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not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Indentation defines code blocks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Loops &amp;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556000"/>
            <a:ext cx="68580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810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hanga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&lt; 4: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(x)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x + 1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90000" y="2540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Loop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90000" y="3556000"/>
            <a:ext cx="6858000" cy="254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0" y="3810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irra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item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keessa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[1, 2, 3]: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(item)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0" y="2540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If-Else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510000" y="3556000"/>
            <a:ext cx="66040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6891000" y="3810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== 2: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(99)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yookaan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9680" y="7112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Python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9680" y="8128000"/>
            <a:ext cx="21844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8382000"/>
            <a:ext cx="2108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While loop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&lt; 4: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print(x)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x + 1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6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For loop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item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[1, 2, 3]: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print(item)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90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 &amp;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Function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556000"/>
            <a:ext cx="10414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810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hojii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ida(a, b):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deebi'i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+ 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9680" y="6096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Type Annotations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7112000"/>
            <a:ext cx="10414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7366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hojii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ida(a: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lakkoofsa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b: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lakkoofsa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-&gt;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lakkoofsa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deebi'i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+ 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0" y="254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Try-Except-Finally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0" y="3556000"/>
            <a:ext cx="10414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3081000" y="3810000"/>
            <a:ext cx="965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yaali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(risky_operation())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qabsiisi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("Error occurred")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dhuma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("Cleanup")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0" y="7366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Exception Variable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0" y="8382000"/>
            <a:ext cx="10414000" cy="279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13081000" y="8636000"/>
            <a:ext cx="965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yaali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(risky_operation())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qabsiisi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error: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(error)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9680" y="9906000"/>
            <a:ext cx="1041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hojii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define a function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deebi'i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return a value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yaali/qabsiisi/dhuma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try/except/finally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22071820081-009f0129c71c?w=1200">    </p:cNvPr>
          <p:cNvPicPr>
            <a:picLocks noChangeAspect="1"/>
          </p:cNvPicPr>
          <p:nvPr/>
        </p:nvPicPr>
        <p:blipFill>
          <a:blip r:embed="rId1"/>
          <a:srcRect l="22840" r="22840" t="0" b="0"/>
          <a:stretch/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0000" y="4445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700000" y="5588000"/>
            <a:ext cx="254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2700000" y="5969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Deep Dive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0" y="8001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Architecture, design decisions, and the future of AOBL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Files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556000"/>
            <a:ext cx="10414000" cy="635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810000"/>
            <a:ext cx="9652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translator.py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CLI entrypoint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afan_oromo_lang/lexer.py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 with indentation support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afan_oromo_lang/parser.py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Recursive descent parser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afan_oromo_lang/ast_nodes.py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 model definitions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afan_oromo_lang/type_checker.py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Strong-typing validation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afan_oromo_lang/generator.py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code generation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0" y="2540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0" y="3556000"/>
            <a:ext cx="10414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13081000" y="3810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docs/language_spec.md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Language specification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docs/short_report.md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Design decisions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0" y="609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0" y="7112000"/>
            <a:ext cx="10414000" cy="279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3081000" y="7366000"/>
            <a:ext cx="965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examples/basic.or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basic.py / basic.out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examples/control_flow.or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.py / .out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examples/feature_demo.or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.py / .out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9680" y="10287000"/>
            <a:ext cx="21844000" cy="0"/>
          </a:xfrm>
          <a:prstGeom prst="straightConnector1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49680" y="10668000"/>
            <a:ext cx="218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example includes the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.or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source file, generated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.py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output, and expected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.out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result for validation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Philosophy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Python as Target?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429000"/>
            <a:ext cx="2540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249680" y="3937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3810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Indentation-based syntax aligns with teaching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4953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4826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readability and simplicity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5969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5842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Maps 1:1 to common programming structures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6985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714500" y="6858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Widely used and accessible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0" y="254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AOBL Design Philosophy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0" y="3429000"/>
            <a:ext cx="2540000" cy="0"/>
          </a:xfrm>
          <a:prstGeom prst="straightConnector1">
            <a:avLst/>
          </a:prstGeom>
          <a:noFill/>
          <a:ln w="25400">
            <a:solidFill>
              <a:srgbClr val="9BBB5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700000" y="3937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16" name="Text 14"/>
          <p:cNvSpPr/>
          <p:nvPr/>
        </p:nvSpPr>
        <p:spPr>
          <a:xfrm>
            <a:off x="13169900" y="3810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Intentionally small grammar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0" y="4953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18" name="Text 16"/>
          <p:cNvSpPr/>
          <p:nvPr/>
        </p:nvSpPr>
        <p:spPr>
          <a:xfrm>
            <a:off x="13169900" y="4826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Local-language keywords reduce cognitive load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0" y="5969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20" name="Text 18"/>
          <p:cNvSpPr/>
          <p:nvPr/>
        </p:nvSpPr>
        <p:spPr>
          <a:xfrm>
            <a:off x="13169900" y="5842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syntax forms reduce intimidation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0" y="6985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22" name="Text 20"/>
          <p:cNvSpPr/>
          <p:nvPr/>
        </p:nvSpPr>
        <p:spPr>
          <a:xfrm>
            <a:off x="13169900" y="6858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translation (not text replacement)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0" y="8001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24" name="Text 22"/>
          <p:cNvSpPr/>
          <p:nvPr/>
        </p:nvSpPr>
        <p:spPr>
          <a:xfrm>
            <a:off x="13169900" y="7874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Unicode support for identifiers and keywords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49680" y="9525000"/>
            <a:ext cx="21844000" cy="0"/>
          </a:xfrm>
          <a:prstGeom prst="straightConnector1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249680" y="10160000"/>
            <a:ext cx="21844000" cy="254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1651000" y="10541000"/>
            <a:ext cx="2108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Mission:</a:t>
            </a:r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 programming education in native languages —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demonstrating that programming can be culturally adapted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90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Localized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Messages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159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error messages are in Afan Oromo for better comprehension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3302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Errors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9680" y="4318000"/>
            <a:ext cx="21844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4445000"/>
            <a:ext cx="2108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Dogoggora: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faayilli hin argamne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Error: file not found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5588000"/>
            <a:ext cx="21844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5715000"/>
            <a:ext cx="2108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Dogoggora: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 hin eeyyamamu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Error: tabs not allowed, use spaces only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6858000"/>
            <a:ext cx="21844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6985000"/>
            <a:ext cx="2108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Dogoggora: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indentation sirrii miti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Error: incorrect indentation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8128000"/>
            <a:ext cx="21844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8255000"/>
            <a:ext cx="2108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Dogoggora: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type hin wal simne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Error: type mismatch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9680" y="9398000"/>
            <a:ext cx="21844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9525000"/>
            <a:ext cx="2108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Dogoggora: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gosa hin walsimu 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Error: type not compatible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9680" y="1117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9680" y="12192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17" name="Text 15"/>
          <p:cNvSpPr/>
          <p:nvPr/>
        </p:nvSpPr>
        <p:spPr>
          <a:xfrm>
            <a:off x="1714500" y="1206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feedback clarity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90000" y="12192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19" name="Text 17"/>
          <p:cNvSpPr/>
          <p:nvPr/>
        </p:nvSpPr>
        <p:spPr>
          <a:xfrm>
            <a:off x="9359900" y="12065000"/>
            <a:ext cx="698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language barrier in debugging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510000" y="12192000"/>
            <a:ext cx="216027" cy="216027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21" name="Text 19"/>
          <p:cNvSpPr/>
          <p:nvPr/>
        </p:nvSpPr>
        <p:spPr>
          <a:xfrm>
            <a:off x="16979900" y="1206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with language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90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&amp;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Use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Language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556000"/>
            <a:ext cx="10414000" cy="660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810000"/>
            <a:ext cx="965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Variables and assignment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Arithmetic and boolean expressions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If/elif/else conditionals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loops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loops with irra ... keessa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Function definitions and return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Try/except/finally exception handling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List literals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Basic type annotations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Natural conditional forms (ta'e, hin ta'in)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Unicode identifiers and keywords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0" y="254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 the Translator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0" y="3556000"/>
            <a:ext cx="10414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13081000" y="3810000"/>
            <a:ext cx="965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Translate .or to .py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 python translator.py examples/program.or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 python examples/program.py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Custom output path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 python translator.py input.or -o output.py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0" y="7874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0" y="8890000"/>
            <a:ext cx="10414000" cy="228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13081000" y="9144000"/>
            <a:ext cx="965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Milkaa'e: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output.py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6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progress through each stage: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Lexer → Parser → Type Checker → Generator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90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AOBL Source</a:t>
            </a:r>
            <a:pPr>
              <a:lnSpc>
                <a:spcPct val="100000"/>
              </a:lnSpc>
            </a:pPr>
            <a:r>
              <a:rPr lang="en-US" sz="4130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4130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(basic.or)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556000"/>
            <a:ext cx="10414000" cy="254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1000" y="3810000"/>
            <a:ext cx="965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 = 4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 + b *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6223000"/>
            <a:ext cx="0" cy="76200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1249680" y="7239000"/>
            <a:ext cx="660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Python</a:t>
            </a:r>
            <a:pPr>
              <a:lnSpc>
                <a:spcPct val="100000"/>
              </a:lnSpc>
            </a:pPr>
            <a:r>
              <a:rPr lang="en-US" sz="4130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4130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(basic.py)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9680" y="8255000"/>
            <a:ext cx="10414000" cy="2540000"/>
          </a:xfrm>
          <a:prstGeom prst="rect">
            <a:avLst/>
          </a:prstGeom>
          <a:solidFill>
            <a:srgbClr val="1E1E1E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1000" y="8509000"/>
            <a:ext cx="965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= 10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 = 4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print((a + (b * 2)))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9680" y="11176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12065000"/>
            <a:ext cx="2540000" cy="889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1249680" y="12065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7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0" y="254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0" y="3429000"/>
            <a:ext cx="2540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700000" y="406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6" name="Text 14"/>
          <p:cNvSpPr/>
          <p:nvPr/>
        </p:nvSpPr>
        <p:spPr>
          <a:xfrm>
            <a:off x="13169900" y="3937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haa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becomes variable assignment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0" y="5080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3169900" y="4953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maxxansi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becomes 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0" y="609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3169900" y="5969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precedence preserved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0" y="711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2" name="Text 20"/>
          <p:cNvSpPr/>
          <p:nvPr/>
        </p:nvSpPr>
        <p:spPr>
          <a:xfrm>
            <a:off x="13169900" y="6985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Python syntax generated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0" y="812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4" name="Text 22"/>
          <p:cNvSpPr/>
          <p:nvPr/>
        </p:nvSpPr>
        <p:spPr>
          <a:xfrm>
            <a:off x="13169900" y="8001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Parentheses added for explicit precedence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0" y="9398000"/>
            <a:ext cx="10414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Text 24"/>
          <p:cNvSpPr/>
          <p:nvPr/>
        </p:nvSpPr>
        <p:spPr>
          <a:xfrm>
            <a:off x="13081000" y="9652000"/>
            <a:ext cx="965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compiler preserves the semantic meaning of the original AOBL code while generating clean, idiomatic Python that follows PEP 8 conventions.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508000"/>
            <a:ext cx="190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</a:t>
            </a:r>
            <a:pPr>
              <a:lnSpc>
                <a:spcPct val="100000"/>
              </a:lnSpc>
            </a:pPr>
            <a:r>
              <a:rPr lang="en-US" sz="72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 1: Natural Language Forms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3048000"/>
            <a:ext cx="1041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Balancing natural language with deterministic parsing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Grammar supports both standard and natural forms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444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 2: Unicode Support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9680" y="5207000"/>
            <a:ext cx="1041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apostrophe-containing keywords (e.g., deebi'i)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Proper Unicode handling in lexer and parser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9680" y="660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 3: Type Checking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9680" y="7366000"/>
            <a:ext cx="1041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Keeping type checker simple while catching mismatches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Strong-typing with basic type inference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9680" y="876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 4: Indentation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9680" y="9525000"/>
            <a:ext cx="1041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Python-like indentation in source language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 indentation tracking in lexer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0" y="228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0" y="3048000"/>
            <a:ext cx="2540000" cy="0"/>
          </a:xfrm>
          <a:prstGeom prst="straightConnector1">
            <a:avLst/>
          </a:prstGeom>
          <a:noFill/>
          <a:ln w="25400">
            <a:solidFill>
              <a:srgbClr val="9BBB59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700000" y="3556000"/>
            <a:ext cx="10414000" cy="889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13081000" y="3810000"/>
            <a:ext cx="9652000" cy="83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comprehensive type system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and objects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and imports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data structures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 integration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error messages with line numbers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support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REPL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examples and tutorials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demonstrations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810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3683000"/>
            <a:ext cx="1079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English syntax barriers for Afan Oromo speakers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9680" y="482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4699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compiler ensures correct translation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9680" y="5842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5715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Local-language keywords improve accessibility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9680" y="685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6731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syntax makes programming approachable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9680" y="7874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7747000"/>
            <a:ext cx="95250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 valid, executable Python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0" y="254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0" y="3429000"/>
            <a:ext cx="2540000" cy="0"/>
          </a:xfrm>
          <a:prstGeom prst="straightConnector1">
            <a:avLst/>
          </a:prstGeom>
          <a:noFill/>
          <a:ln w="25400">
            <a:solidFill>
              <a:srgbClr val="9BBB59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700000" y="3810000"/>
            <a:ext cx="10414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13081000" y="4064000"/>
            <a:ext cx="965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Enables programming education in native language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Demonstrates that programming languages can be culturally adapted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a foundation for other local-language programming tools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9680" y="9652000"/>
            <a:ext cx="21844000" cy="0"/>
          </a:xfrm>
          <a:prstGeom prst="straightConnector1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49680" y="10414000"/>
            <a:ext cx="21844000" cy="228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10795000"/>
            <a:ext cx="2108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73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"Programming should be accessible in every language —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73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AOBL is a step toward that future."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22202176988-66273c2fd55f?w=1200">    </p:cNvPr>
          <p:cNvPicPr>
            <a:picLocks noChangeAspect="1"/>
          </p:cNvPicPr>
          <p:nvPr/>
        </p:nvPicPr>
        <p:blipFill>
          <a:blip r:embed="rId1"/>
          <a:srcRect l="22840" r="22840" t="0" b="0"/>
          <a:stretch/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0000" y="4445000"/>
            <a:ext cx="1016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 you have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any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700000" y="8255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attention.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0" y="9525000"/>
            <a:ext cx="889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Afan Oromo Beginner Language (AOBL)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docs/language_spec.md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examples/ directory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Afan Oromo Programming Language (AOBL)</dc:title>
  <dc:subject>Afan Oromo Programming Language (AOBL)</dc:subject>
  <dc:creator>Kimi</dc:creator>
  <cp:lastModifiedBy>Kimi</cp:lastModifiedBy>
  <cp:revision>1</cp:revision>
  <dcterms:created xsi:type="dcterms:W3CDTF">2026-05-22T06:49:59Z</dcterms:created>
  <dcterms:modified xsi:type="dcterms:W3CDTF">2026-05-22T06:49:59Z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{"Label":"Afan Oromo Programming Language (AOBL)","ContentProducer":"001191110108MACG2KBH8F10000","ProduceID":"19e4e639-6b82-81f6-8000-000066043feb","ReservedCode1":"","ContentPropagator":"001191110108MACG2KBH8F20000","PropagateID":"19e4e639-6b82-81f6-8000-000066043feb","ReservedCode2":""}</vt:lpwstr>
  </property>
</Properties>
</file>